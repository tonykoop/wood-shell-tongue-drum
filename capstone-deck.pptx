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F3A68"/>
                </a:solidFill>
              </a:defRPr>
            </a:pPr>
            <a:r>
              <a:t>Wood Shell Tongue Drum Capstone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11247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111111"/>
                </a:solidFill>
              </a:defRPr>
            </a:pPr>
            <a:r>
              <a:t>Musical instrument documentation capstone</a:t>
            </a:r>
          </a:p>
          <a:p>
            <a:pPr>
              <a:spcAft>
                <a:spcPts val="800"/>
              </a:spcAft>
              <a:defRPr sz="2200">
                <a:solidFill>
                  <a:srgbClr val="111111"/>
                </a:solidFill>
              </a:defRPr>
            </a:pPr>
            <a:r>
              <a:t>Build packet: wood-shell-tongue-drum</a:t>
            </a:r>
          </a:p>
          <a:p>
            <a:pPr>
              <a:spcAft>
                <a:spcPts val="800"/>
              </a:spcAft>
              <a:defRPr sz="2200">
                <a:solidFill>
                  <a:srgbClr val="111111"/>
                </a:solidFill>
              </a:defRPr>
            </a:pPr>
            <a:r>
              <a:t>Generated: 2026-05-07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45577"/>
                </a:solidFill>
              </a:defRPr>
            </a:pPr>
            <a:r>
              <a:t>Wood Shell Tongue Drum Capstone  |  Slide 1 of 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3A68"/>
                </a:solidFill>
              </a:defRPr>
            </a:pPr>
            <a:r>
              <a:t>Project Intent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1247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445577"/>
                </a:solidFill>
              </a:defRPr>
            </a:pPr>
            <a:r>
              <a:t>• **Owner:** Tony Koop · Heifer Zephyr Instruments</a:t>
            </a:r>
            <a:br/>
            <a:r>
              <a:t>**Family:** Slit-tongue idiophone with enclosed wooden resonator (round-body)</a:t>
            </a:r>
            <a:br/>
            <a:r>
              <a:t>**Members:** four geometric variants (V1–V4) × three size envelopes (Travel 12″, Standard 16″, Floor Pouf 20″)</a:t>
            </a:r>
            <a:br/>
            <a:r>
              <a:t>**Status:** Design v1 — formulas parametric in `wood-shell-tongue-drum-design-table.xlsx`; no physical prototype yet</a:t>
            </a:r>
            <a:br/>
            <a:r>
              <a:t>**Recommended first prototype:** **V1 Cylinder + Flat Top, Standard 16″, A Kurd**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45577"/>
                </a:solidFill>
              </a:defRPr>
            </a:pPr>
            <a:r>
              <a:t>Wood Shell Tongue Drum Capstone  |  Slide 2 of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3A68"/>
                </a:solidFill>
              </a:defRPr>
            </a:pPr>
            <a:r>
              <a:t>How To Use This Packet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1247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445577"/>
                </a:solidFill>
              </a:defRPr>
            </a:pPr>
            <a:r>
              <a:t>• Start with design.md for intent and assumptions.</a:t>
            </a:r>
          </a:p>
          <a:p>
            <a:pPr>
              <a:spcAft>
                <a:spcPts val="800"/>
              </a:spcAft>
              <a:defRPr sz="2000">
                <a:solidFill>
                  <a:srgbClr val="445577"/>
                </a:solidFill>
              </a:defRPr>
            </a:pPr>
            <a:r>
              <a:t>• Use bom.csv, sourcing.csv, and cut-list.csv before buying or cutting.</a:t>
            </a:r>
          </a:p>
          <a:p>
            <a:pPr>
              <a:spcAft>
                <a:spcPts val="800"/>
              </a:spcAft>
              <a:defRPr sz="2000">
                <a:solidFill>
                  <a:srgbClr val="445577"/>
                </a:solidFill>
              </a:defRPr>
            </a:pPr>
            <a:r>
              <a:t>• Use drawing-brief.md and CAD/CNC folders before machining.</a:t>
            </a:r>
          </a:p>
          <a:p>
            <a:pPr>
              <a:spcAft>
                <a:spcPts val="800"/>
              </a:spcAft>
              <a:defRPr sz="2000">
                <a:solidFill>
                  <a:srgbClr val="445577"/>
                </a:solidFill>
              </a:defRPr>
            </a:pPr>
            <a:r>
              <a:t>• Print the packet for shopping, shop work, and validation.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45577"/>
                </a:solidFill>
              </a:defRPr>
            </a:pPr>
            <a:r>
              <a:t>Wood Shell Tongue Drum Capstone  |  Slide 3 of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3A68"/>
                </a:solidFill>
              </a:defRPr>
            </a:pPr>
            <a:r>
              <a:t>File 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1247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445577"/>
                </a:solidFill>
              </a:defRPr>
            </a:pPr>
            <a:r>
              <a:t>• design.md: Project intent, catalog metadata, assumptions, and validation plan.</a:t>
            </a:r>
          </a:p>
          <a:p>
            <a:pPr>
              <a:spcAft>
                <a:spcPts val="800"/>
              </a:spcAft>
              <a:defRPr sz="2000">
                <a:solidFill>
                  <a:srgbClr val="445577"/>
                </a:solidFill>
              </a:defRPr>
            </a:pPr>
            <a:r>
              <a:t>• bom.csv: Starter bill of materials with part categories, quantities, drawing refs, and notes.</a:t>
            </a:r>
          </a:p>
          <a:p>
            <a:pPr>
              <a:spcAft>
                <a:spcPts val="800"/>
              </a:spcAft>
              <a:defRPr sz="2000">
                <a:solidFill>
                  <a:srgbClr val="445577"/>
                </a:solidFill>
              </a:defRPr>
            </a:pPr>
            <a:r>
              <a:t>• sourcing.csv: Supplier/search tracker with specs, price/date fields, lead time, substitutes, and risks.</a:t>
            </a:r>
          </a:p>
          <a:p>
            <a:pPr>
              <a:spcAft>
                <a:spcPts val="800"/>
              </a:spcAft>
              <a:defRPr sz="2000">
                <a:solidFill>
                  <a:srgbClr val="445577"/>
                </a:solidFill>
              </a:defRPr>
            </a:pPr>
            <a:r>
              <a:t>• cut-list.csv: Rough/final stock sizes, material, grain/orientation, operations, yield, and offcuts.</a:t>
            </a:r>
          </a:p>
          <a:p>
            <a:pPr>
              <a:spcAft>
                <a:spcPts val="800"/>
              </a:spcAft>
              <a:defRPr sz="2000">
                <a:solidFill>
                  <a:srgbClr val="445577"/>
                </a:solidFill>
              </a:defRPr>
            </a:pPr>
            <a:r>
              <a:t>• drawing-brief.md: Manufacturing drawing and technical product sketch brief.</a:t>
            </a:r>
          </a:p>
          <a:p>
            <a:pPr>
              <a:spcAft>
                <a:spcPts val="800"/>
              </a:spcAft>
              <a:defRPr sz="2000">
                <a:solidFill>
                  <a:srgbClr val="445577"/>
                </a:solidFill>
              </a:defRPr>
            </a:pPr>
            <a:r>
              <a:t>• assembly-manual.md: Shop-facing sequence, tools, fixtures, safety, tuning, finishing, and maintenance notes.</a:t>
            </a:r>
          </a:p>
          <a:p>
            <a:pPr>
              <a:spcAft>
                <a:spcPts val="800"/>
              </a:spcAft>
              <a:defRPr sz="2000">
                <a:solidFill>
                  <a:srgbClr val="445577"/>
                </a:solidFill>
              </a:defRPr>
            </a:pPr>
            <a:r>
              <a:t>• validation.csv: Target/measured values, tolerance, environment, result, and tuning/build action log.</a:t>
            </a:r>
          </a:p>
          <a:p>
            <a:pPr>
              <a:spcAft>
                <a:spcPts val="800"/>
              </a:spcAft>
              <a:defRPr sz="2000">
                <a:solidFill>
                  <a:srgbClr val="445577"/>
                </a:solidFill>
              </a:defRPr>
            </a:pPr>
            <a:r>
              <a:t>• supplier-rfq.md: Supplier email/request-for-quote starter.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45577"/>
                </a:solidFill>
              </a:defRPr>
            </a:pPr>
            <a:r>
              <a:t>Wood Shell Tongue Drum Capstone  |  Slide 4 of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3A68"/>
                </a:solidFill>
              </a:defRPr>
            </a:pPr>
            <a:r>
              <a:t>Build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1247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445577"/>
                </a:solidFill>
              </a:defRPr>
            </a:pPr>
            <a:r>
              <a:t>• Design and assumptions</a:t>
            </a:r>
          </a:p>
          <a:p>
            <a:pPr>
              <a:spcAft>
                <a:spcPts val="800"/>
              </a:spcAft>
              <a:defRPr sz="2000">
                <a:solidFill>
                  <a:srgbClr val="445577"/>
                </a:solidFill>
              </a:defRPr>
            </a:pPr>
            <a:r>
              <a:t>• Source materials and hardware</a:t>
            </a:r>
          </a:p>
          <a:p>
            <a:pPr>
              <a:spcAft>
                <a:spcPts val="800"/>
              </a:spcAft>
              <a:defRPr sz="2000">
                <a:solidFill>
                  <a:srgbClr val="445577"/>
                </a:solidFill>
              </a:defRPr>
            </a:pPr>
            <a:r>
              <a:t>• Prepare stock, fixtures, and CNC/laser/lathe setup</a:t>
            </a:r>
          </a:p>
          <a:p>
            <a:pPr>
              <a:spcAft>
                <a:spcPts val="800"/>
              </a:spcAft>
              <a:defRPr sz="2000">
                <a:solidFill>
                  <a:srgbClr val="445577"/>
                </a:solidFill>
              </a:defRPr>
            </a:pPr>
            <a:r>
              <a:t>• Assemble, tune, finish, and validate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45577"/>
                </a:solidFill>
              </a:defRPr>
            </a:pPr>
            <a:r>
              <a:t>Wood Shell Tongue Drum Capstone  |  Slide 5 of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3A68"/>
                </a:solidFill>
              </a:defRPr>
            </a:pPr>
            <a:r>
              <a:t>Sourcing And BOM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1247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445577"/>
                </a:solidFill>
              </a:defRPr>
            </a:pPr>
            <a:r>
              <a:t>• BOM gives part categories and drawing references.</a:t>
            </a:r>
          </a:p>
          <a:p>
            <a:pPr>
              <a:spcAft>
                <a:spcPts val="800"/>
              </a:spcAft>
              <a:defRPr sz="2000">
                <a:solidFill>
                  <a:srgbClr val="445577"/>
                </a:solidFill>
              </a:defRPr>
            </a:pPr>
            <a:r>
              <a:t>• Sourcing tracks search terms, supplier candidates, price/date, lead time, substitutions.</a:t>
            </a:r>
          </a:p>
          <a:p>
            <a:pPr>
              <a:spcAft>
                <a:spcPts val="800"/>
              </a:spcAft>
              <a:defRPr sz="2000">
                <a:solidFill>
                  <a:srgbClr val="445577"/>
                </a:solidFill>
              </a:defRPr>
            </a:pPr>
            <a:r>
              <a:t>• Visual BOM brief turns the parts list into a presentation-ready image board.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45577"/>
                </a:solidFill>
              </a:defRPr>
            </a:pPr>
            <a:r>
              <a:t>Wood Shell Tongue Drum Capstone  |  Slide 6 of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3A68"/>
                </a:solidFill>
              </a:defRPr>
            </a:pPr>
            <a:r>
              <a:t>Shop Packet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1247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445577"/>
                </a:solidFill>
              </a:defRPr>
            </a:pPr>
            <a:r>
              <a:t>• Cut list for lumber/sheet/blank planning.</a:t>
            </a:r>
          </a:p>
          <a:p>
            <a:pPr>
              <a:spcAft>
                <a:spcPts val="800"/>
              </a:spcAft>
              <a:defRPr sz="2000">
                <a:solidFill>
                  <a:srgbClr val="445577"/>
                </a:solidFill>
              </a:defRPr>
            </a:pPr>
            <a:r>
              <a:t>• Assembly manual for away-from-keyboard work.</a:t>
            </a:r>
          </a:p>
          <a:p>
            <a:pPr>
              <a:spcAft>
                <a:spcPts val="800"/>
              </a:spcAft>
              <a:defRPr sz="2000">
                <a:solidFill>
                  <a:srgbClr val="445577"/>
                </a:solidFill>
              </a:defRPr>
            </a:pPr>
            <a:r>
              <a:t>• Validation sheet for measured dimensions, tuning, pass/fail checks.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45577"/>
                </a:solidFill>
              </a:defRPr>
            </a:pPr>
            <a:r>
              <a:t>Wood Shell Tongue Drum Capstone  |  Slide 7 of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3A68"/>
                </a:solidFill>
              </a:defRPr>
            </a:pPr>
            <a:r>
              <a:t>Drawings, CAD, CNC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5943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445577"/>
                </a:solidFill>
              </a:defRPr>
            </a:pPr>
            <a:r>
              <a:t>• drawing-brief.md defines required views, dimensions, datums, sketch intent.</a:t>
            </a:r>
          </a:p>
          <a:p>
            <a:pPr>
              <a:spcAft>
                <a:spcPts val="800"/>
              </a:spcAft>
              <a:defRPr sz="2000">
                <a:solidFill>
                  <a:srgbClr val="445577"/>
                </a:solidFill>
              </a:defRPr>
            </a:pPr>
            <a:r>
              <a:t>• cad/ holds models and design tables.</a:t>
            </a:r>
          </a:p>
          <a:p>
            <a:pPr>
              <a:spcAft>
                <a:spcPts val="800"/>
              </a:spcAft>
              <a:defRPr sz="2000">
                <a:solidFill>
                  <a:srgbClr val="445577"/>
                </a:solidFill>
              </a:defRPr>
            </a:pPr>
            <a:r>
              <a:t>• cnc/ holds CAM, toolpaths, setup sheets, dry-run notes.</a:t>
            </a:r>
          </a:p>
          <a:p>
            <a:pPr>
              <a:spcAft>
                <a:spcPts val="800"/>
              </a:spcAft>
              <a:defRPr sz="2000">
                <a:solidFill>
                  <a:srgbClr val="445577"/>
                </a:solidFill>
              </a:defRPr>
            </a:pPr>
            <a:r>
              <a:t>• drawings/ holds PDFs, SVGs, DXFs, drawing exports.</a:t>
            </a:r>
          </a:p>
        </p:txBody>
      </p:sp>
      <p:pic>
        <p:nvPicPr>
          <p:cNvPr id="5" name="Picture 4" descr="00-hero-v1-stand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0850" y="1463040"/>
            <a:ext cx="4777740" cy="35661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675120" y="5029200"/>
            <a:ext cx="5029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445577"/>
                </a:solidFill>
              </a:defRPr>
            </a:pPr>
            <a:r>
              <a:t>00-hero-v1-standard.png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45577"/>
                </a:solidFill>
              </a:defRPr>
            </a:pPr>
            <a:r>
              <a:t>Wood Shell Tongue Drum Capstone  |  Slide 8 of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3A68"/>
                </a:solidFill>
              </a:defRPr>
            </a:pPr>
            <a:r>
              <a:t>Images And Screenshots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1247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445577"/>
                </a:solidFill>
              </a:defRPr>
            </a:pPr>
            <a:r>
              <a:t>• Add hero render/photo, visual BOM, shop screenshots, drawing previews, validation photos in images/.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45577"/>
                </a:solidFill>
              </a:defRPr>
            </a:pPr>
            <a:r>
              <a:t>Wood Shell Tongue Drum Capstone  |  Slide 9 of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3A68"/>
                </a:solidFill>
              </a:defRPr>
            </a:pPr>
            <a:r>
              <a:t>Validation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1247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445577"/>
                </a:solidFill>
              </a:defRPr>
            </a:pPr>
            <a:r>
              <a:t>• A4 = 440 Hz reference check.</a:t>
            </a:r>
          </a:p>
          <a:p>
            <a:pPr>
              <a:spcAft>
                <a:spcPts val="800"/>
              </a:spcAft>
              <a:defRPr sz="2000">
                <a:solidFill>
                  <a:srgbClr val="445577"/>
                </a:solidFill>
              </a:defRPr>
            </a:pPr>
            <a:r>
              <a:t>• Tuning targets logged in validation.csv.</a:t>
            </a:r>
          </a:p>
          <a:p>
            <a:pPr>
              <a:spcAft>
                <a:spcPts val="800"/>
              </a:spcAft>
              <a:defRPr sz="2000">
                <a:solidFill>
                  <a:srgbClr val="445577"/>
                </a:solidFill>
              </a:defRPr>
            </a:pPr>
            <a:r>
              <a:t>• Critical dimensions verified against design sheet and CAD.</a:t>
            </a:r>
          </a:p>
          <a:p>
            <a:pPr>
              <a:spcAft>
                <a:spcPts val="800"/>
              </a:spcAft>
              <a:defRPr sz="2000">
                <a:solidFill>
                  <a:srgbClr val="445577"/>
                </a:solidFill>
              </a:defRPr>
            </a:pPr>
            <a:r>
              <a:t>• Photos and revision notes after each major step.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45577"/>
                </a:solidFill>
              </a:defRPr>
            </a:pPr>
            <a:r>
              <a:t>Wood Shell Tongue Drum Capstone  |  Slide 10 of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3A68"/>
                </a:solidFill>
              </a:defRPr>
            </a:pPr>
            <a:r>
              <a:t>Open Risks / Decisions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1247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445577"/>
                </a:solidFill>
              </a:defRPr>
            </a:pPr>
            <a:r>
              <a:t>• TBDs in design sheet and BOM.</a:t>
            </a:r>
          </a:p>
          <a:p>
            <a:pPr>
              <a:spcAft>
                <a:spcPts val="800"/>
              </a:spcAft>
              <a:defRPr sz="2000">
                <a:solidFill>
                  <a:srgbClr val="445577"/>
                </a:solidFill>
              </a:defRPr>
            </a:pPr>
            <a:r>
              <a:t>• Supplier price/availability not yet verified.</a:t>
            </a:r>
          </a:p>
          <a:p>
            <a:pPr>
              <a:spcAft>
                <a:spcPts val="800"/>
              </a:spcAft>
              <a:defRPr sz="2000">
                <a:solidFill>
                  <a:srgbClr val="445577"/>
                </a:solidFill>
              </a:defRPr>
            </a:pPr>
            <a:r>
              <a:t>• Generated images marked as concept placeholders.</a:t>
            </a:r>
          </a:p>
          <a:p>
            <a:pPr>
              <a:spcAft>
                <a:spcPts val="800"/>
              </a:spcAft>
              <a:defRPr sz="2000">
                <a:solidFill>
                  <a:srgbClr val="445577"/>
                </a:solidFill>
              </a:defRPr>
            </a:pPr>
            <a:r>
              <a:t>• Empirical corrections await measured prototype data.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45577"/>
                </a:solidFill>
              </a:defRPr>
            </a:pPr>
            <a:r>
              <a:t>Wood Shell Tongue Drum Capstone  |  Slide 11 of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3A68"/>
                </a:solidFill>
              </a:defRPr>
            </a:pPr>
            <a:r>
              <a:t>Next Actions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1247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445577"/>
                </a:solidFill>
              </a:defRPr>
            </a:pPr>
            <a:r>
              <a:t>• Replace TBDs with measured/source-backed values.</a:t>
            </a:r>
          </a:p>
          <a:p>
            <a:pPr>
              <a:spcAft>
                <a:spcPts val="800"/>
              </a:spcAft>
              <a:defRPr sz="2000">
                <a:solidFill>
                  <a:srgbClr val="445577"/>
                </a:solidFill>
              </a:defRPr>
            </a:pPr>
            <a:r>
              <a:t>• Verify live supplier price and availability before buying.</a:t>
            </a:r>
          </a:p>
          <a:p>
            <a:pPr>
              <a:spcAft>
                <a:spcPts val="800"/>
              </a:spcAft>
              <a:defRPr sz="2000">
                <a:solidFill>
                  <a:srgbClr val="445577"/>
                </a:solidFill>
              </a:defRPr>
            </a:pPr>
            <a:r>
              <a:t>• Export final drawings and visual BOM images.</a:t>
            </a:r>
          </a:p>
          <a:p>
            <a:pPr>
              <a:spcAft>
                <a:spcPts val="800"/>
              </a:spcAft>
              <a:defRPr sz="2000">
                <a:solidFill>
                  <a:srgbClr val="445577"/>
                </a:solidFill>
              </a:defRPr>
            </a:pPr>
            <a:r>
              <a:t>• Regenerate this deck and print packet after final edits.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45577"/>
                </a:solidFill>
              </a:defRPr>
            </a:pPr>
            <a:r>
              <a:t>Wood Shell Tongue Drum Capstone  |  Slide 12 of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